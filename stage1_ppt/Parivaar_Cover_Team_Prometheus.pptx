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33e630e-6c48-7db1-e851-4d1cfd9e1b9f}">
          <p14:sldIdLst>
            <p14:sldId id="256"/>
          </p14:sldIdLst>
        </p14:section>
        <p14:section name="Problem" id="{592b9583-4734-9e85-e0ec-73b5529a7aed}">
          <p14:sldIdLst>
            <p14:sldId id="257"/>
          </p14:sldIdLst>
        </p14:section>
        <p14:section name="Solution" id="{d90dbc1a-8f60-e080-5a15-37e54425381e}">
          <p14:sldIdLst>
            <p14:sldId id="258"/>
            <p14:sldId id="259"/>
          </p14:sldIdLst>
        </p14:section>
        <p14:section name="Technology" id="{918a2b8b-7daa-082e-84b0-6c8e539c0966}">
          <p14:sldIdLst>
            <p14:sldId id="260"/>
          </p14:sldIdLst>
        </p14:section>
        <p14:section name="USP" id="{5173a20c-4856-6a42-146b-a6a592778bfe}">
          <p14:sldIdLst>
            <p14:sldId id="261"/>
          </p14:sldIdLst>
        </p14:section>
        <p14:section name="Impact" id="{ac956d66-642e-b65c-8ba0-683c4098d2db}">
          <p14:sldIdLst>
            <p14:sldId id="262"/>
          </p14:sldIdLst>
        </p14:section>
        <p14:section name="Business model" id="{5a6a04f7-1389-0cda-bc13-3aa5b70a8d8a}">
          <p14:sldIdLst>
            <p14:sldId id="263"/>
          </p14:sldIdLst>
        </p14:section>
        <p14:section name="Close" id="{fa62c5a6-ff12-2f3f-0c97-3e2c7bd626c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Parivaar Cover helps one person insure three generations of a family. It picks the mix of health policies that gives the most cover for the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Rahul has to cover five people across three generations, one of them diabetic. Nobody helps him plan the combination. The numbers show what's at stake: families still pay about 40% of health costs themselves, and many claims get cut over fine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user talks, the AI has already read every policy, a solver builds the mix, and the app explains it before checkout. The solver does the maths, so the numbers are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usual answer is one big floater for all five, priced on the oldest, sickest member. The mix gives the young family their own floater and a cheap top-up, gives each parent their own plan, and adds a top-up for the parents. It costs less and covers four times as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handles language: the conversation, reading policy PDFs, and explaining results. A deterministic solver picks the plans, so every number can be traced. Policy data is extracted by AI and checked by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and comparison sites each do part of the job. None of them plans a multi-policy mix for a whole family, and none shows what you'd actually pay out of pocket for a real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Families get a better plan in one sitting. Paytm sells several policies per household and renews them every year. Insurers get customers who bought the right product, which means fewer disputes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Families pay the same premium they would anywhere else. Revenue comes from brokerage on several policies per family, renewals every year, a share of premium EMI, and licensing the optimizer to employers. The year 1 figures are an illustration with stated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round: a working prototype on real policy data. After that, a small pilot with Paytm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1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0749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00" kern="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Parivaar Cover · Team Prometheus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PAYTM HACKATHON 2026  ·  AI-POWERED FINANCIAL JOURNEYS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74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Parivaar Cover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Finds the best-value mix of health policies for your whole family, from kids to grandparents.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Team Prometheus</a:t>
            </a:r>
            <a:endParaRPr lang="en-US" sz="1800" dirty="0"/>
          </a:p>
        </p:txBody>
      </p:sp>
      <p:sp>
        <p:nvSpPr>
          <p:cNvPr id="6" name="Family backdrop"/>
          <p:cNvSpPr/>
          <p:nvPr/>
        </p:nvSpPr>
        <p:spPr>
          <a:xfrm>
            <a:off x="7223760" y="1188720"/>
            <a:ext cx="4480560" cy="448056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0" y="1645920"/>
            <a:ext cx="822960" cy="8229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Mohan, 64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645920"/>
            <a:ext cx="822960" cy="8229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464040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Lata, 60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80360"/>
            <a:ext cx="822960" cy="8229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758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Rahul, 36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2880360"/>
            <a:ext cx="822960" cy="8229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3758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Sneha, 33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4114800"/>
            <a:ext cx="822960" cy="8229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Aarav, 6</a:t>
            </a:r>
            <a:endParaRPr lang="en-US" sz="1200" dirty="0"/>
          </a:p>
        </p:txBody>
      </p:sp>
      <p:sp>
        <p:nvSpPr>
          <p:cNvPr id="17" name="Shield badge"/>
          <p:cNvSpPr/>
          <p:nvPr/>
        </p:nvSpPr>
        <p:spPr>
          <a:xfrm>
            <a:off x="10927080" y="4434840"/>
            <a:ext cx="960120" cy="960120"/>
          </a:xfrm>
          <a:prstGeom prst="ellipse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B1B3A">
                <a:alpha val="12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2" y="464515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Insuring three generations is guesswork</a:t>
            </a:r>
            <a:endParaRPr lang="en-US" sz="3600" dirty="0"/>
          </a:p>
        </p:txBody>
      </p:sp>
      <p:sp>
        <p:nvSpPr>
          <p:cNvPr id="4" name="Family card"/>
          <p:cNvSpPr/>
          <p:nvPr/>
        </p:nvSpPr>
        <p:spPr>
          <a:xfrm>
            <a:off x="54864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Rahul's family, Pune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Rahul, 36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807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Sneha, 33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10128"/>
            <a:ext cx="384048" cy="38404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310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Aarav, 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1304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813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Mohan, 64</a:t>
            </a:r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   diabetic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1596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Lata, 60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645920"/>
            <a:ext cx="7299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Rahul has to decide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17627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148840"/>
            <a:ext cx="67967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floater for all five, or separate plans for his parents?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6791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651760"/>
            <a:ext cx="67967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 a super top-up worth adding, and at what deductible?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1821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154680"/>
            <a:ext cx="67967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of hundreds of plans, from dozens of insurers?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68503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57600"/>
            <a:ext cx="67967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do co-pay, room-rent caps and waiting periods cost him?</a:t>
            </a:r>
            <a:endParaRPr lang="en-US" sz="1500" dirty="0"/>
          </a:p>
        </p:txBody>
      </p:sp>
      <p:sp>
        <p:nvSpPr>
          <p:cNvPr id="25" name="Gap callout"/>
          <p:cNvSpPr/>
          <p:nvPr/>
        </p:nvSpPr>
        <p:spPr>
          <a:xfrm>
            <a:off x="4343400" y="4224528"/>
            <a:ext cx="7299655" cy="713232"/>
          </a:xfrm>
          <a:prstGeom prst="roundRect">
            <a:avLst>
              <a:gd name="adj" fmla="val 15385"/>
            </a:avLst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224528"/>
            <a:ext cx="68424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Agents push one big floater and comparison sites rank one policy at a time, so no one works out the mix for the whole family.</a:t>
            </a:r>
            <a:endParaRPr lang="en-US" sz="1500" dirty="0"/>
          </a:p>
        </p:txBody>
      </p:sp>
      <p:sp>
        <p:nvSpPr>
          <p:cNvPr id="27" name="Stat icon 1"/>
          <p:cNvSpPr/>
          <p:nvPr/>
        </p:nvSpPr>
        <p:spPr>
          <a:xfrm>
            <a:off x="548640" y="519379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329855"/>
            <a:ext cx="294803" cy="294803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280160" y="5102352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~40%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5522976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health spending in India is paid out of pocket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280160" y="5943600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National Health Accounts 2021-22</a:t>
            </a:r>
            <a:endParaRPr lang="en-US" sz="1000" dirty="0"/>
          </a:p>
        </p:txBody>
      </p:sp>
      <p:sp>
        <p:nvSpPr>
          <p:cNvPr id="32" name="Stat icon 2"/>
          <p:cNvSpPr/>
          <p:nvPr/>
        </p:nvSpPr>
        <p:spPr>
          <a:xfrm>
            <a:off x="4338218" y="519379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281" y="5329855"/>
            <a:ext cx="294803" cy="294803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069738" y="5102352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44%</a:t>
            </a:r>
            <a:endParaRPr lang="en-US" sz="2600" dirty="0"/>
          </a:p>
        </p:txBody>
      </p:sp>
      <p:sp>
        <p:nvSpPr>
          <p:cNvPr id="35" name="Text 31"/>
          <p:cNvSpPr txBox="1"/>
          <p:nvPr/>
        </p:nvSpPr>
        <p:spPr>
          <a:xfrm>
            <a:off x="5069738" y="5522976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claims rejected or only partly paid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069738" y="5943600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LocalCircles survey of policyholders, 2023-25</a:t>
            </a:r>
            <a:endParaRPr lang="en-US" sz="1000" dirty="0"/>
          </a:p>
        </p:txBody>
      </p:sp>
      <p:sp>
        <p:nvSpPr>
          <p:cNvPr id="37" name="Stat icon 3"/>
          <p:cNvSpPr/>
          <p:nvPr/>
        </p:nvSpPr>
        <p:spPr>
          <a:xfrm>
            <a:off x="8127797" y="519379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60" y="5329855"/>
            <a:ext cx="294803" cy="294803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859317" y="5102352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~12%</a:t>
            </a:r>
            <a:endParaRPr lang="en-US" sz="2600" dirty="0"/>
          </a:p>
        </p:txBody>
      </p:sp>
      <p:sp>
        <p:nvSpPr>
          <p:cNvPr id="40" name="Text 35"/>
          <p:cNvSpPr txBox="1"/>
          <p:nvPr/>
        </p:nvSpPr>
        <p:spPr>
          <a:xfrm>
            <a:off x="8859317" y="5522976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medical inflation in 2024, about 3x general inflation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8859317" y="5943600"/>
            <a:ext cx="2783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Milliman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family details to the right policy mix</a:t>
            </a:r>
            <a:endParaRPr lang="en-US" sz="3600" dirty="0"/>
          </a:p>
        </p:txBody>
      </p:sp>
      <p:sp>
        <p:nvSpPr>
          <p:cNvPr id="4" name="Step 1"/>
          <p:cNvSpPr/>
          <p:nvPr/>
        </p:nvSpPr>
        <p:spPr>
          <a:xfrm>
            <a:off x="548640" y="169164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5" name="Step 1 icon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93544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Talk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 or speak in English, Hindi or a regional language. Share each member's age, health, city and budget, plus any office cover.</a:t>
            </a:r>
            <a:endParaRPr lang="en-US" sz="1400" dirty="0"/>
          </a:p>
        </p:txBody>
      </p:sp>
      <p:sp>
        <p:nvSpPr>
          <p:cNvPr id="10" name="Arrow 1"/>
          <p:cNvSpPr/>
          <p:nvPr/>
        </p:nvSpPr>
        <p:spPr>
          <a:xfrm>
            <a:off x="3052496" y="2167128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936" y="2258568"/>
            <a:ext cx="219456" cy="219456"/>
          </a:xfrm>
          <a:prstGeom prst="rect">
            <a:avLst/>
          </a:prstGeom>
        </p:spPr>
      </p:pic>
      <p:sp>
        <p:nvSpPr>
          <p:cNvPr id="12" name="Step 2"/>
          <p:cNvSpPr/>
          <p:nvPr/>
        </p:nvSpPr>
        <p:spPr>
          <a:xfrm>
            <a:off x="3390824" y="169164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13" name="Step 2 icon"/>
          <p:cNvSpPr/>
          <p:nvPr/>
        </p:nvSpPr>
        <p:spPr>
          <a:xfrm>
            <a:off x="3665144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81" y="215249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35728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665144" y="29718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 the fine print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665144" y="342900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has already turned every policy wording into comparable data: room rent, co-pay, waiting periods, sub-limits, network hospitals.</a:t>
            </a:r>
            <a:endParaRPr lang="en-US" sz="1400" dirty="0"/>
          </a:p>
        </p:txBody>
      </p:sp>
      <p:sp>
        <p:nvSpPr>
          <p:cNvPr id="18" name="Arrow 2"/>
          <p:cNvSpPr/>
          <p:nvPr/>
        </p:nvSpPr>
        <p:spPr>
          <a:xfrm>
            <a:off x="5894680" y="2167128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2258568"/>
            <a:ext cx="219456" cy="219456"/>
          </a:xfrm>
          <a:prstGeom prst="rect">
            <a:avLst/>
          </a:prstGeom>
        </p:spPr>
      </p:pic>
      <p:sp>
        <p:nvSpPr>
          <p:cNvPr id="20" name="Step 3"/>
          <p:cNvSpPr/>
          <p:nvPr/>
        </p:nvSpPr>
        <p:spPr>
          <a:xfrm>
            <a:off x="6233008" y="169164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1" name="Step 3 icon"/>
          <p:cNvSpPr/>
          <p:nvPr/>
        </p:nvSpPr>
        <p:spPr>
          <a:xfrm>
            <a:off x="6507328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865" y="2152498"/>
            <a:ext cx="404165" cy="40416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977911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507328" y="29718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Optimise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507328" y="342900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solver tests thousands of floater, individual and top-up combinations and picks the most cover per rupee within budget.</a:t>
            </a:r>
            <a:endParaRPr lang="en-US" sz="1400" dirty="0"/>
          </a:p>
        </p:txBody>
      </p:sp>
      <p:sp>
        <p:nvSpPr>
          <p:cNvPr id="26" name="Arrow 3"/>
          <p:cNvSpPr/>
          <p:nvPr/>
        </p:nvSpPr>
        <p:spPr>
          <a:xfrm>
            <a:off x="8736863" y="2167128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8303" y="2258568"/>
            <a:ext cx="219456" cy="219456"/>
          </a:xfrm>
          <a:prstGeom prst="rect">
            <a:avLst/>
          </a:prstGeom>
        </p:spPr>
      </p:pic>
      <p:sp>
        <p:nvSpPr>
          <p:cNvPr id="28" name="Step 4"/>
          <p:cNvSpPr/>
          <p:nvPr/>
        </p:nvSpPr>
        <p:spPr>
          <a:xfrm>
            <a:off x="9075191" y="1691640"/>
            <a:ext cx="2567864" cy="324612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</p:sp>
      <p:sp>
        <p:nvSpPr>
          <p:cNvPr id="29" name="Step 4 icon"/>
          <p:cNvSpPr/>
          <p:nvPr/>
        </p:nvSpPr>
        <p:spPr>
          <a:xfrm>
            <a:off x="9349511" y="19659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6049" y="2152498"/>
            <a:ext cx="404165" cy="40416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820095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04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9349511" y="297180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Explain and buy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9349511" y="342900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pick comes with a plain-language reason and its catches. Buy every policy in one Paytm checkout, with EMI if needed.</a:t>
            </a:r>
            <a:endParaRPr lang="en-US" sz="1400" dirty="0"/>
          </a:p>
        </p:txBody>
      </p:sp>
      <p:sp>
        <p:nvSpPr>
          <p:cNvPr id="34" name="Time band"/>
          <p:cNvSpPr/>
          <p:nvPr/>
        </p:nvSpPr>
        <p:spPr>
          <a:xfrm>
            <a:off x="548640" y="5212080"/>
            <a:ext cx="11094415" cy="603504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35" name="Clock icon"/>
          <p:cNvSpPr/>
          <p:nvPr/>
        </p:nvSpPr>
        <p:spPr>
          <a:xfrm>
            <a:off x="731520" y="528523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5394960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371600" y="5212080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About 10 minutes from first question to recommendation, inside the Paytm 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PROPOSED SOLUTION  ·  RAHUL'S FAMILY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Rahul gets 4x the cover for ₹11,000 less</a:t>
            </a:r>
            <a:endParaRPr lang="en-US" sz="3600" dirty="0"/>
          </a:p>
        </p:txBody>
      </p:sp>
      <p:sp>
        <p:nvSpPr>
          <p:cNvPr id="4" name="Usual pick card"/>
          <p:cNvSpPr/>
          <p:nvPr/>
        </p:nvSpPr>
        <p:spPr>
          <a:xfrm>
            <a:off x="548640" y="1600200"/>
            <a:ext cx="3840480" cy="3657600"/>
          </a:xfrm>
          <a:prstGeom prst="roundRect">
            <a:avLst>
              <a:gd name="adj" fmla="val 3000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THE USUAL PICK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₹25L floater for all five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₹1,18,000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year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people share one ₹25L pool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Priced on Mohan's age and diabetes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Diabetes waiting period of 3 years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3291840" cy="0"/>
          </a:xfrm>
          <a:prstGeom prst="line">
            <a:avLst/>
          </a:prstGeom>
          <a:noFill/>
          <a:ln w="9525">
            <a:solidFill>
              <a:schemeClr val="accent4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cover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₹25L</a:t>
            </a:r>
            <a:endParaRPr lang="en-US" sz="1800" dirty="0"/>
          </a:p>
        </p:txBody>
      </p:sp>
      <p:sp>
        <p:nvSpPr>
          <p:cNvPr id="13" name="Mix card"/>
          <p:cNvSpPr/>
          <p:nvPr/>
        </p:nvSpPr>
        <p:spPr>
          <a:xfrm>
            <a:off x="4663440" y="1600200"/>
            <a:ext cx="6979615" cy="36576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PARIVAAR COVER'S MIX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Five policies built for this family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899855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₹1,07,000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2258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year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68833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268833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2688336"/>
            <a:ext cx="329184" cy="329184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65176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₹10L family floater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42855" y="26517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₹21,000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063240"/>
            <a:ext cx="6430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09981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93792" y="3099816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49824" y="3099816"/>
            <a:ext cx="329184" cy="329184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06324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₹50L super top-up, ₹10L deductible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042855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₹4,500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3474720"/>
            <a:ext cx="6430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37760" y="3511296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347472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₹10L senior plan, 1-year diabetes wait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42855" y="3474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₹41,000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37760" y="3886200"/>
            <a:ext cx="6430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37760" y="3922776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989320" y="388620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₹10L individual plan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042855" y="3886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₹24,500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37760" y="4297680"/>
            <a:ext cx="6430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4334256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193792" y="4334256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429768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₹25L super top-up, ₹10L deductible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042855" y="4297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₹16,000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37760" y="4709160"/>
            <a:ext cx="6430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377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Total cover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625535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₹1.05 crore</a:t>
            </a:r>
            <a:endParaRPr lang="en-US" sz="18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68112"/>
            <a:ext cx="329184" cy="329184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1005840" y="5413248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Claim check: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₹6L heart procedure for Mohan in year 2 is covered by the mix. With the usual pick it waits until year 4.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Illustrative premiums for a Pune family, rounded. Real quotes depend on the insurer and medical tests.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TECHNOLOGY / TECH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it's built</a:t>
            </a:r>
            <a:endParaRPr lang="en-US" sz="3600" dirty="0"/>
          </a:p>
        </p:txBody>
      </p:sp>
      <p:sp>
        <p:nvSpPr>
          <p:cNvPr id="4" name="Layer Channels"/>
          <p:cNvSpPr/>
          <p:nvPr/>
        </p:nvSpPr>
        <p:spPr>
          <a:xfrm>
            <a:off x="548640" y="1645920"/>
            <a:ext cx="8503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Channels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Where families use 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783080"/>
            <a:ext cx="2432304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Paytm mini-app (React Native)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1783080"/>
            <a:ext cx="111556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 (React)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39128" y="1783080"/>
            <a:ext cx="676656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Voice</a:t>
            </a:r>
            <a:endParaRPr lang="en-US" sz="1200" dirty="0"/>
          </a:p>
        </p:txBody>
      </p:sp>
      <p:sp>
        <p:nvSpPr>
          <p:cNvPr id="10" name="Layer AI layer"/>
          <p:cNvSpPr/>
          <p:nvPr/>
        </p:nvSpPr>
        <p:spPr>
          <a:xfrm>
            <a:off x="548640" y="2404872"/>
            <a:ext cx="8503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layer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523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Talks, reads policies, explains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542032"/>
            <a:ext cx="155448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Sonnet 5.5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542032"/>
            <a:ext cx="3163824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Bhashini / Sarvam AI (Indian languages)</a:t>
            </a:r>
            <a:endParaRPr lang="en-US" sz="1200" dirty="0"/>
          </a:p>
        </p:txBody>
      </p:sp>
      <p:sp>
        <p:nvSpPr>
          <p:cNvPr id="15" name="Layer Decision engine"/>
          <p:cNvSpPr/>
          <p:nvPr/>
        </p:nvSpPr>
        <p:spPr>
          <a:xfrm>
            <a:off x="548640" y="3163824"/>
            <a:ext cx="8503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255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Decision engine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112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Builds the mix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3300984"/>
            <a:ext cx="148132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Python + FastAPI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300984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Google OR-Tools solver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3300984"/>
            <a:ext cx="1408176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Claim simulator</a:t>
            </a:r>
            <a:endParaRPr lang="en-US" sz="1200" dirty="0"/>
          </a:p>
        </p:txBody>
      </p:sp>
      <p:sp>
        <p:nvSpPr>
          <p:cNvPr id="21" name="Layer Policy data"/>
          <p:cNvSpPr/>
          <p:nvPr/>
        </p:nvSpPr>
        <p:spPr>
          <a:xfrm>
            <a:off x="548640" y="3922776"/>
            <a:ext cx="8503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014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Policy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702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Every plan as structured data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4059936"/>
            <a:ext cx="184708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+ pgvector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28616" y="4059936"/>
            <a:ext cx="1773936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PDF parsing pipeline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4059936"/>
            <a:ext cx="118872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Human review</a:t>
            </a:r>
            <a:endParaRPr lang="en-US" sz="1200" dirty="0"/>
          </a:p>
        </p:txBody>
      </p:sp>
      <p:sp>
        <p:nvSpPr>
          <p:cNvPr id="27" name="Layer Integrations"/>
          <p:cNvSpPr/>
          <p:nvPr/>
        </p:nvSpPr>
        <p:spPr>
          <a:xfrm>
            <a:off x="548640" y="4681728"/>
            <a:ext cx="8503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773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Integrations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029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Quote, pay, issue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971800" y="4818888"/>
            <a:ext cx="1993392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Paytm Insurance Broking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4818888"/>
            <a:ext cx="1773936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Paytm KYC &amp; payments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58584" y="4818888"/>
            <a:ext cx="19202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Lending partners (EMI)</a:t>
            </a:r>
            <a:endParaRPr lang="en-US" sz="1200" dirty="0"/>
          </a:p>
        </p:txBody>
      </p:sp>
      <p:sp>
        <p:nvSpPr>
          <p:cNvPr id="33" name="Trust pillar"/>
          <p:cNvSpPr/>
          <p:nvPr/>
        </p:nvSpPr>
        <p:spPr>
          <a:xfrm>
            <a:off x="9235440" y="1645920"/>
            <a:ext cx="2407615" cy="3675888"/>
          </a:xfrm>
          <a:prstGeom prst="roundRect">
            <a:avLst>
              <a:gd name="adj" fmla="val 4558"/>
            </a:avLst>
          </a:prstGeom>
          <a:solidFill>
            <a:schemeClr val="tx2"/>
          </a:solidFill>
          <a:ln/>
        </p:spPr>
      </p:sp>
      <p:sp>
        <p:nvSpPr>
          <p:cNvPr id="34" name="Lock icon"/>
          <p:cNvSpPr/>
          <p:nvPr/>
        </p:nvSpPr>
        <p:spPr>
          <a:xfrm>
            <a:off x="9509760" y="19202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4" y="2051914"/>
            <a:ext cx="285293" cy="285293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9509760" y="2606040"/>
            <a:ext cx="1858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Trust and compliance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509760" y="3291840"/>
            <a:ext cx="1950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DPDP Act consent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Encrypted health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Audit log for every recommendation</a:t>
            </a:r>
            <a:endParaRPr lang="en-US" sz="1300" dirty="0"/>
          </a:p>
        </p:txBody>
      </p:sp>
      <p:sp>
        <p:nvSpPr>
          <p:cNvPr id="38" name="Guardrail callout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9" name="Sparkles icon"/>
          <p:cNvSpPr/>
          <p:nvPr/>
        </p:nvSpPr>
        <p:spPr>
          <a:xfrm>
            <a:off x="713232" y="555040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5655747"/>
            <a:ext cx="228234" cy="228234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1325880" y="548640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Prices and picks come from the solver. The LLM explains them and cites the policy clause.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USP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compares</a:t>
            </a:r>
            <a:endParaRPr lang="en-US" sz="3600" dirty="0"/>
          </a:p>
        </p:txBody>
      </p:sp>
      <p:sp>
        <p:nvSpPr>
          <p:cNvPr id="4" name="Our column"/>
          <p:cNvSpPr/>
          <p:nvPr/>
        </p:nvSpPr>
        <p:spPr>
          <a:xfrm>
            <a:off x="9235440" y="1554480"/>
            <a:ext cx="2377440" cy="35661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Insurance agent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Comparison site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Parivaar Cover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686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945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Recommends a mix of policies for the whole family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Sometimes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48" y="2313432"/>
            <a:ext cx="329184" cy="32918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2313432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2761488"/>
            <a:ext cx="8686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7614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Compares plans across insurers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577840" y="27614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Partly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880360"/>
            <a:ext cx="329184" cy="32918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8" y="2880360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3328416"/>
            <a:ext cx="8686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48640" y="332841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Explains the fine print before you pay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57784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Partly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406640" y="33284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Partly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3447288"/>
            <a:ext cx="329184" cy="32918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48640" y="3895344"/>
            <a:ext cx="8686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48640" y="38953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Shows your out-of-pocket cost for real treatments</a:t>
            </a:r>
            <a:endParaRPr lang="en-US" sz="15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4014216"/>
            <a:ext cx="329184" cy="329184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014216"/>
            <a:ext cx="329184" cy="329184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9568" y="4014216"/>
            <a:ext cx="329184" cy="32918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48640" y="4462272"/>
            <a:ext cx="86868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548640" y="446227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Talks in your language, by voice</a:t>
            </a:r>
            <a:endParaRPr lang="en-US" sz="15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4581144"/>
            <a:ext cx="329184" cy="329184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6448" y="4581144"/>
            <a:ext cx="329184" cy="329184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9568" y="4581144"/>
            <a:ext cx="329184" cy="329184"/>
          </a:xfrm>
          <a:prstGeom prst="rect">
            <a:avLst/>
          </a:prstGeom>
        </p:spPr>
      </p:pic>
      <p:sp>
        <p:nvSpPr>
          <p:cNvPr id="33" name="Phone icon"/>
          <p:cNvSpPr/>
          <p:nvPr/>
        </p:nvSpPr>
        <p:spPr>
          <a:xfrm>
            <a:off x="548640" y="534924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703" y="5485303"/>
            <a:ext cx="294803" cy="294803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325880" y="5349240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Runs inside Paytm, so KYC, payments and renewal reminders are already in place.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IMPACT &amp; BENEFITS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benefits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~10 min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from first question to recommendation (target)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38218" y="16002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4x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38218" y="224028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cover for ₹11,000 less in Rahul's case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27797" y="16002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 to 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127797" y="224028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policies per family, instead of one</a:t>
            </a:r>
            <a:endParaRPr lang="en-US" sz="1300" dirty="0"/>
          </a:p>
        </p:txBody>
      </p:sp>
      <p:sp>
        <p:nvSpPr>
          <p:cNvPr id="10" name="Families card"/>
          <p:cNvSpPr/>
          <p:nvPr/>
        </p:nvSpPr>
        <p:spPr>
          <a:xfrm>
            <a:off x="548640" y="2834640"/>
            <a:ext cx="3515258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1" name="Families icon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262579"/>
            <a:ext cx="332842" cy="33284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45920" y="310896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Families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977640"/>
            <a:ext cx="29666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Decide in one sitting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Parents get proper cover (no age cap on new policies since 2024)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 waiting periods and caps before paying</a:t>
            </a:r>
            <a:endParaRPr lang="en-US" sz="1400" dirty="0"/>
          </a:p>
        </p:txBody>
      </p:sp>
      <p:sp>
        <p:nvSpPr>
          <p:cNvPr id="15" name="Paytm card"/>
          <p:cNvSpPr/>
          <p:nvPr/>
        </p:nvSpPr>
        <p:spPr>
          <a:xfrm>
            <a:off x="4338218" y="2834640"/>
            <a:ext cx="3515258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Paytm icon"/>
          <p:cNvSpPr/>
          <p:nvPr/>
        </p:nvSpPr>
        <p:spPr>
          <a:xfrm>
            <a:off x="4612538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26257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35498" y="310896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Paytm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3977640"/>
            <a:ext cx="29666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Bigger ticket per household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Renewals and yearly check-ups bring families back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Paytm's KYC, payments and lending</a:t>
            </a:r>
            <a:endParaRPr lang="en-US" sz="1400" dirty="0"/>
          </a:p>
        </p:txBody>
      </p:sp>
      <p:sp>
        <p:nvSpPr>
          <p:cNvPr id="20" name="Insurers card"/>
          <p:cNvSpPr/>
          <p:nvPr/>
        </p:nvSpPr>
        <p:spPr>
          <a:xfrm>
            <a:off x="8127797" y="2834640"/>
            <a:ext cx="3515258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1" name="Insurers icon"/>
          <p:cNvSpPr/>
          <p:nvPr/>
        </p:nvSpPr>
        <p:spPr>
          <a:xfrm>
            <a:off x="8402117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26257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225077" y="3108960"/>
            <a:ext cx="2143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Insurers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02117" y="3977640"/>
            <a:ext cx="29666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Customers matched to the right product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Fewer disputes at claim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Lower cost to acquire customers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Free for families, paid by insurer brokerage</a:t>
            </a:r>
            <a:endParaRPr lang="en-US" sz="3600" dirty="0"/>
          </a:p>
        </p:txBody>
      </p:sp>
      <p:sp>
        <p:nvSpPr>
          <p:cNvPr id="4" name="Brokerage card"/>
          <p:cNvSpPr/>
          <p:nvPr/>
        </p:nvSpPr>
        <p:spPr>
          <a:xfrm>
            <a:off x="548640" y="1645920"/>
            <a:ext cx="33604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Brokerage icon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Brokerage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2903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Insurers pay brokerage on each policy via Paytm Insurance Broking (IRDAI licensed to 2029). A family buys 3 to 5.</a:t>
            </a:r>
            <a:endParaRPr lang="en-US" sz="1400" dirty="0"/>
          </a:p>
        </p:txBody>
      </p:sp>
      <p:sp>
        <p:nvSpPr>
          <p:cNvPr id="9" name="Renewals card"/>
          <p:cNvSpPr/>
          <p:nvPr/>
        </p:nvSpPr>
        <p:spPr>
          <a:xfrm>
            <a:off x="4137660" y="1645920"/>
            <a:ext cx="33604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Renewals icon"/>
          <p:cNvSpPr/>
          <p:nvPr/>
        </p:nvSpPr>
        <p:spPr>
          <a:xfrm>
            <a:off x="436626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1" y="19952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06340" y="187452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Renewals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366260" y="2514600"/>
            <a:ext cx="2903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 cover renews every year. A yearly check-up re-runs the optimizer and keeps the family on Paytm.</a:t>
            </a:r>
            <a:endParaRPr lang="en-US" sz="1400" dirty="0"/>
          </a:p>
        </p:txBody>
      </p:sp>
      <p:sp>
        <p:nvSpPr>
          <p:cNvPr id="14" name="Premium EMI card"/>
          <p:cNvSpPr/>
          <p:nvPr/>
        </p:nvSpPr>
        <p:spPr>
          <a:xfrm>
            <a:off x="548640" y="3749040"/>
            <a:ext cx="33604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5" name="Premium EMI icon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0983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97764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Premium EMI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617720"/>
            <a:ext cx="2903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Lending partners split large premiums into monthly payments. Paytm earns a share.</a:t>
            </a:r>
            <a:endParaRPr lang="en-US" sz="1400" dirty="0"/>
          </a:p>
        </p:txBody>
      </p:sp>
      <p:sp>
        <p:nvSpPr>
          <p:cNvPr id="19" name="B2B API card"/>
          <p:cNvSpPr/>
          <p:nvPr/>
        </p:nvSpPr>
        <p:spPr>
          <a:xfrm>
            <a:off x="4137660" y="3749040"/>
            <a:ext cx="33604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0" name="B2B API icon"/>
          <p:cNvSpPr/>
          <p:nvPr/>
        </p:nvSpPr>
        <p:spPr>
          <a:xfrm>
            <a:off x="436626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61" y="409834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006340" y="3977640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B2B API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366260" y="4617720"/>
            <a:ext cx="2903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Employers and other distributors license the optimizer.</a:t>
            </a:r>
            <a:endParaRPr lang="en-US" sz="1400" dirty="0"/>
          </a:p>
        </p:txBody>
      </p:sp>
      <p:sp>
        <p:nvSpPr>
          <p:cNvPr id="24" name="Year 1 panel"/>
          <p:cNvSpPr/>
          <p:nvPr/>
        </p:nvSpPr>
        <p:spPr>
          <a:xfrm>
            <a:off x="7772400" y="1645920"/>
            <a:ext cx="3870655" cy="3977640"/>
          </a:xfrm>
          <a:prstGeom prst="roundRect">
            <a:avLst>
              <a:gd name="adj" fmla="val 2835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092440" y="187452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YEAR 1 ILLUSTRATION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8092440" y="224028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50,000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8092440" y="2651760"/>
            <a:ext cx="323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families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092440" y="2990088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× ₹70,000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8092440" y="3401568"/>
            <a:ext cx="323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average yearly premium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092440" y="3739896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= ₹350 Cr</a:t>
            </a:r>
            <a:endParaRPr lang="en-US" sz="2600" dirty="0"/>
          </a:p>
        </p:txBody>
      </p:sp>
      <p:sp>
        <p:nvSpPr>
          <p:cNvPr id="31" name="Text 25"/>
          <p:cNvSpPr txBox="1"/>
          <p:nvPr/>
        </p:nvSpPr>
        <p:spPr>
          <a:xfrm>
            <a:off x="8092440" y="4151376"/>
            <a:ext cx="323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premium through Paytm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092440" y="4526280"/>
            <a:ext cx="3230575" cy="0"/>
          </a:xfrm>
          <a:prstGeom prst="line">
            <a:avLst/>
          </a:prstGeom>
          <a:noFill/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092440" y="4617720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₹42 Cr</a:t>
            </a:r>
            <a:endParaRPr lang="en-US" sz="3200" dirty="0"/>
          </a:p>
        </p:txBody>
      </p:sp>
      <p:sp>
        <p:nvSpPr>
          <p:cNvPr id="34" name="Text 28"/>
          <p:cNvSpPr txBox="1"/>
          <p:nvPr/>
        </p:nvSpPr>
        <p:spPr>
          <a:xfrm>
            <a:off x="8092440" y="512064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revenue at an assumed 12% brokerage, before renewals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870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Main costs: AI usage per session, keeping policy data current, insurer integrations.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Parivaar Cover  ·  Team Prometheus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7132320" cy="0"/>
          </a:xfrm>
          <a:prstGeom prst="line">
            <a:avLst/>
          </a:prstGeom>
          <a:noFill/>
          <a:ln w="15875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Round 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956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Working prototype on real policy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Pilot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4956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Live with a small group of Paytm users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956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Yearly check-ups and the employer API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ivaar Cover">
  <a:themeElements>
    <a:clrScheme name="Parivaar Cover">
      <a:dk1>
        <a:srgbClr val="13213F"/>
      </a:dk1>
      <a:lt1>
        <a:srgbClr val="FFFFFF"/>
      </a:lt1>
      <a:dk2>
        <a:srgbClr val="002E6E"/>
      </a:dk2>
      <a:lt2>
        <a:srgbClr val="EAF6FC"/>
      </a:lt2>
      <a:accent1>
        <a:srgbClr val="00BAF2"/>
      </a:accent1>
      <a:accent2>
        <a:srgbClr val="FFB020"/>
      </a:accent2>
      <a:accent3>
        <a:srgbClr val="1FA971"/>
      </a:accent3>
      <a:accent4>
        <a:srgbClr val="64748B"/>
      </a:accent4>
      <a:accent5>
        <a:srgbClr val="0A7AB8"/>
      </a:accent5>
      <a:accent6>
        <a:srgbClr val="B8E9FB"/>
      </a:accent6>
      <a:hlink>
        <a:srgbClr val="0A7AB8"/>
      </a:hlink>
      <a:folHlink>
        <a:srgbClr val="002E6E"/>
      </a:folHlink>
    </a:clrScheme>
    <a:fontScheme name="Parivaar Cov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Parivaar Cover: Team Prometheus</dc:title>
  <dc:subject>PptxGenJS Presentation</dc:subject>
  <dc:creator>Team Prometheus</dc:creator>
  <cp:lastModifiedBy>Team Prometheus</cp:lastModifiedBy>
  <cp:revision>1</cp:revision>
  <dcterms:created xsi:type="dcterms:W3CDTF">2026-10-25T10:45:18Z</dcterms:created>
  <dcterms:modified xsi:type="dcterms:W3CDTF">2026-10-25T10:45:18Z</dcterms:modified>
</cp:coreProperties>
</file>